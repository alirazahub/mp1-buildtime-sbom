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Syft Source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Node.js</c:v>
                </c:pt>
                <c:pt idx="1">
                  <c:v>Flask</c:v>
                </c:pt>
                <c:pt idx="2">
                  <c:v>Go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906</c:v>
                </c:pt>
                <c:pt idx="1">
                  <c:v>9</c:v>
                </c:pt>
                <c:pt idx="2">
                  <c:v>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E6-4260-8158-4923CE4F2C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Trivy Source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Node.js</c:v>
                </c:pt>
                <c:pt idx="1">
                  <c:v>Flask</c:v>
                </c:pt>
                <c:pt idx="2">
                  <c:v>Go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273</c:v>
                </c:pt>
                <c:pt idx="1">
                  <c:v>9</c:v>
                </c:pt>
                <c:pt idx="2">
                  <c:v>231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E6-4260-8158-4923CE4F2C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Syft Image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Node.js</c:v>
                </c:pt>
                <c:pt idx="1">
                  <c:v>Flask</c:v>
                </c:pt>
                <c:pt idx="2">
                  <c:v>Go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5337</c:v>
                </c:pt>
                <c:pt idx="1">
                  <c:v>10000</c:v>
                </c:pt>
                <c:pt idx="2">
                  <c:v>13912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E6-4260-8158-4923CE4F2C2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Trivy Image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Node.js</c:v>
                </c:pt>
                <c:pt idx="1">
                  <c:v>Flask</c:v>
                </c:pt>
                <c:pt idx="2">
                  <c:v>Go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1418</c:v>
                </c:pt>
                <c:pt idx="1">
                  <c:v>520</c:v>
                </c:pt>
                <c:pt idx="2">
                  <c:v>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1E6-4260-8158-4923CE4F2C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6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937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743200"/>
            <a:ext cx="2011680" cy="2011680"/>
          </a:xfrm>
          <a:prstGeom prst="ellipse">
            <a:avLst/>
          </a:prstGeom>
          <a:solidFill>
            <a:srgbClr val="00C8FF">
              <a:alpha val="8000"/>
            </a:srgbClr>
          </a:solidFill>
          <a:ln w="12700">
            <a:solidFill>
              <a:srgbClr val="00C8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47472"/>
            <a:ext cx="2926080" cy="292608"/>
          </a:xfrm>
          <a:prstGeom prst="rect">
            <a:avLst/>
          </a:prstGeom>
          <a:solidFill>
            <a:srgbClr val="00C8FF">
              <a:alpha val="18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FF"/>
                </a:solidFill>
              </a:rPr>
              <a:t>USEEN1 — Software Supply Chain Security for the Cloud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SBOM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Analysis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41148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1  · 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 Paris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Security · SBOM Comparison · Syft · Trivy · Witness · </a:t>
            </a:r>
            <a:r>
              <a:rPr lang="en-US" sz="11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 </a:t>
            </a: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920240"/>
            <a:ext cx="1097280" cy="10972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MP1 · Build-time SBOM · Software Supply Chain Security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AB1802-4E53-A3B9-8FDC-B422F79489A6}"/>
              </a:ext>
            </a:extLst>
          </p:cNvPr>
          <p:cNvSpPr txBox="1"/>
          <p:nvPr/>
        </p:nvSpPr>
        <p:spPr>
          <a:xfrm>
            <a:off x="457200" y="3349597"/>
            <a:ext cx="5036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Raza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828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51760" cy="30175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265176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024128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SBOM Levels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14884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SBOMs generated at different supply-chain levels: source, container image, and build-time runtime observation.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868680"/>
            <a:ext cx="2651760" cy="30175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8686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024128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214884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missing dependencies, unexpected components, and mismatches between build-time and runtime environments.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868680"/>
            <a:ext cx="2651760" cy="30175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80760" y="86868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024128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Granularity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17920" y="2148840"/>
            <a:ext cx="2377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depth of information — component metadata, version data, transient dependencies — across different tools.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4069080"/>
            <a:ext cx="8503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20624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4133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Learning: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051560" y="4480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benefits and limitations of each SBOM generation approach and their practical implications for software supply-chain security.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MP1 · Build-time SBOM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828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OSS Projects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chosen to span different languages and dependency ecosystems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05840"/>
            <a:ext cx="2697480" cy="3566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005840"/>
            <a:ext cx="2697480" cy="402336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1005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" y="1536192"/>
            <a:ext cx="685800" cy="228600"/>
          </a:xfrm>
          <a:prstGeom prst="rect">
            <a:avLst/>
          </a:prstGeom>
          <a:solidFill>
            <a:srgbClr val="22C55E">
              <a:alpha val="35000"/>
            </a:srgbClr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1536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Language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3856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Node.js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2066544"/>
            <a:ext cx="685800" cy="228600"/>
          </a:xfrm>
          <a:prstGeom prst="rect">
            <a:avLst/>
          </a:prstGeom>
          <a:solidFill>
            <a:srgbClr val="22C55E">
              <a:alpha val="35000"/>
            </a:srgbClr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0665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Purpose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33856" y="2066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backend service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" y="2596896"/>
            <a:ext cx="685800" cy="228600"/>
          </a:xfrm>
          <a:prstGeom prst="rect">
            <a:avLst/>
          </a:prstGeom>
          <a:solidFill>
            <a:srgbClr val="22C55E">
              <a:alpha val="35000"/>
            </a:srgbClr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25968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Package Mgr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" y="2596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/ package.json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" y="3154680"/>
            <a:ext cx="24688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" y="3200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" y="3474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ecosystem; npm produces deep transitive dependency trees ideal for comparison.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45536" y="1005840"/>
            <a:ext cx="2697480" cy="3566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45536" y="1005840"/>
            <a:ext cx="2697480" cy="402336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55264" y="1005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55264" y="1536192"/>
            <a:ext cx="685800" cy="2286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55264" y="1536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Language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86784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55264" y="2066544"/>
            <a:ext cx="685800" cy="2286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55264" y="20665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Purpose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86784" y="2066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service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55264" y="2596896"/>
            <a:ext cx="685800" cy="228600"/>
          </a:xfrm>
          <a:prstGeom prst="rect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55264" y="25968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Package Mgr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86784" y="2596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/ requirements.txt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55264" y="3154680"/>
            <a:ext cx="24688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46704" y="3200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46704" y="3474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packaging behavior differs significantly from npm — lighter source, heavier runtime.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98464" y="1005840"/>
            <a:ext cx="2697480" cy="3566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98464" y="1005840"/>
            <a:ext cx="2697480" cy="402336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08192" y="1005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Gin App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08192" y="1536192"/>
            <a:ext cx="685800" cy="228600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08192" y="1536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Language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39712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08192" y="2066544"/>
            <a:ext cx="685800" cy="228600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08192" y="20665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Purpose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39712" y="2066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HTTP service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08192" y="2596896"/>
            <a:ext cx="685800" cy="228600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08192" y="25968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Package Mgr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39712" y="2596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modules / go.mod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08192" y="3154680"/>
            <a:ext cx="24688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99632" y="3200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99632" y="3474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Statically compiled binaries produce unique SBOM challenges — fewer runtime packages.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MP1 · Build-time SBOM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828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822960"/>
            <a:ext cx="2697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932688"/>
            <a:ext cx="804672" cy="201168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9326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</a:rPr>
              <a:t>Primary Tool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2336" y="1188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Syft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15179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" y="17556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Anchore's open-source tool. Generates SBOMs in CycloneDX 1.6 format from source directories and Docker images. Produced significantly higher component counts than Trivy at image level.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45536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45536" y="822960"/>
            <a:ext cx="2697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36976" y="932688"/>
            <a:ext cx="804672" cy="201168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36976" y="9326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</a:rPr>
              <a:t>Primary Tool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55264" y="1188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55264" y="15179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55264" y="17556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 Security's scanner for filesystem and image scanning. Outputs CycloneDX JSON. Compared against Syft — uses manifest-oriented resolution, producing cleaner but lower counts.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98464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98464" y="82296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9904" y="932688"/>
            <a:ext cx="804672" cy="20116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9904" y="9326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</a:rPr>
              <a:t>Attestation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08192" y="1188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08192" y="15179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Attestation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08192" y="17556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TestifySec's attestation tool. Used to sign and record build provenance for all three projects. Attestations stored as signed JSON envelopes with predicate type witness.testifysec.com/v0.1.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2608" y="27889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2608" y="2788920"/>
            <a:ext cx="26974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4048" y="2898648"/>
            <a:ext cx="804672" cy="201168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289864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366F1"/>
                </a:solidFill>
              </a:rPr>
              <a:t>Infrastructure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02336" y="3154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2336" y="34838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Build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" y="372160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build container images from each OSS project's Dockerfile, enabling image-level SBOM scanning and runtime dependency comparison against source-level scans.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45536" y="27889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45536" y="2788920"/>
            <a:ext cx="2697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36976" y="2898648"/>
            <a:ext cx="804672" cy="201168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36976" y="289864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Standard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255264" y="3154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 1.6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55264" y="34838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Format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55264" y="372160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BOM format used as output across all Syft and Trivy scans (.cdx.json). Enables consistent, machine-readable component comparison across tools and scan levels.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98464" y="27889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998464" y="2788920"/>
            <a:ext cx="26974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089904" y="2898648"/>
            <a:ext cx="804672" cy="201168"/>
          </a:xfrm>
          <a:prstGeom prst="rect">
            <a:avLst/>
          </a:prstGeom>
          <a:solidFill>
            <a:srgbClr val="94A3B8">
              <a:alpha val="18000"/>
            </a:srgbClr>
          </a:solidFill>
          <a:ln w="12700">
            <a:solidFill>
              <a:srgbClr val="94A3B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89904" y="289864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4A3B8"/>
                </a:solidFill>
              </a:rPr>
              <a:t>Analysis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08192" y="3154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 / Shell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108192" y="34838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Parsing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08192" y="372160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extract component counts, list package names, decode attestation payloads, and compare SBOM outputs. e.g. jq '.components | length' and base64 -d pipelines.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MP1 · Build-time SBOM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828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28016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280160" cy="292608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24358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OSS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72768" y="1371600"/>
            <a:ext cx="914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27632" y="12984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09928" y="914400"/>
            <a:ext cx="128016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09928" y="914400"/>
            <a:ext cx="1280160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09928" y="914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55648" y="124358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(Syft + Trivy)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08376" y="1371600"/>
            <a:ext cx="914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63240" y="12984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45536" y="914400"/>
            <a:ext cx="128016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45536" y="914400"/>
            <a:ext cx="1280160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45536" y="914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91256" y="124358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43984" y="1371600"/>
            <a:ext cx="914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98848" y="12984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81144" y="914400"/>
            <a:ext cx="128016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81144" y="914400"/>
            <a:ext cx="1280160" cy="292608"/>
          </a:xfrm>
          <a:prstGeom prst="rect">
            <a:avLst/>
          </a:prstGeom>
          <a:solidFill>
            <a:srgbClr val="E879F9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81144" y="914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26864" y="124358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(Syft + Trivy)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79592" y="1371600"/>
            <a:ext cx="914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34456" y="12984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16752" y="914400"/>
            <a:ext cx="128016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16752" y="914400"/>
            <a:ext cx="1280160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16752" y="914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62472" y="124358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Attestation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1371600"/>
            <a:ext cx="914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70064" y="129844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52360" y="914400"/>
            <a:ext cx="128016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52360" y="914400"/>
            <a:ext cx="1280160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52360" y="914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124358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Outputs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92608" y="2212848"/>
            <a:ext cx="2697480" cy="2542032"/>
          </a:xfrm>
          <a:prstGeom prst="rect">
            <a:avLst/>
          </a:prstGeom>
          <a:solidFill>
            <a:srgbClr val="162040"/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92608" y="2212848"/>
            <a:ext cx="2697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02336" y="23042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02336" y="25968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Level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02336" y="2980944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code and manifest files (package.json, requirements.txt, go.mod). Reflects only declared application deps. Scanned with Syft and Trivy.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54680" y="2212848"/>
            <a:ext cx="2697480" cy="2542032"/>
          </a:xfrm>
          <a:prstGeom prst="rect">
            <a:avLst/>
          </a:prstGeom>
          <a:solidFill>
            <a:srgbClr val="162040"/>
          </a:solidFill>
          <a:ln w="12700">
            <a:solidFill>
              <a:srgbClr val="E879F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154680" y="2212848"/>
            <a:ext cx="2697480" cy="54864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64408" y="23042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64408" y="25968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Level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264408" y="2980944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layers of a built Docker image. Reveals OS packages, runtime libs, and installed tooling absent from source declarations.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16752" y="2212848"/>
            <a:ext cx="2697480" cy="2542032"/>
          </a:xfrm>
          <a:prstGeom prst="rect">
            <a:avLst/>
          </a:prstGeom>
          <a:solidFill>
            <a:srgbClr val="162040"/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016752" y="2212848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26480" y="23042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26480" y="25968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Attestation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126480" y="2980944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records build provenance — signed JSON envelopes with predicate type witness.testifysec.com/v0.1. Keys stored in keys/ folder.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MP1 · Build-time SBOM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828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Performed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804672"/>
            <a:ext cx="420624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Used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Syft — Source scan (CycloneDX 1.6)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" y="1472184"/>
            <a:ext cx="3858768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47218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syft dir:. -o cyclonedx-json &gt; sboms/nodejs-syft-source.cdx.json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920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Syft — Image scan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" y="2130552"/>
            <a:ext cx="3858768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13055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syft image:&lt;tag&gt; -o cyclonedx-json &gt; sboms/nodejs-syft-image.cdx.json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5786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— Source scan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2788920"/>
            <a:ext cx="3858768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78892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fs . --format cyclonedx &gt; sboms/nodejs-trivy-source.cdx.json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32369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— Image scan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" y="3447288"/>
            <a:ext cx="3858768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44728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image &lt;tag&gt; --format cyclonedx &gt; sboms/nodejs-trivy-image.cdx.json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8953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— Build attestation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" y="4105656"/>
            <a:ext cx="3858768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10565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witness run -s build --signer-file-key-path keys/buildkey.pem -- docker build 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804672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Criteria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298448"/>
            <a:ext cx="385876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1298448"/>
            <a:ext cx="5486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13350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10912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components identified at each scan level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1975104"/>
            <a:ext cx="385876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1975104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10912" y="2011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Runtime-Only Components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10912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present in image but not in source manifest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2651760"/>
            <a:ext cx="385876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2651760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10912" y="26883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Packages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0912" y="2926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in source missing from image scan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328416"/>
            <a:ext cx="385876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46320" y="3328416"/>
            <a:ext cx="54864" cy="56692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10912" y="33649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Granularity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10912" y="36027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version, license, and hash metadata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4005072"/>
            <a:ext cx="385876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46320" y="4005072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10912" y="40416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Richness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10912" y="4279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PURL, CPE, supplier, and provenance fields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MP1 · Build-time SBOM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828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Dependency Counts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822960"/>
          <a:ext cx="8549640" cy="1536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Syft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Syft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9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Syft Src→Img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9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+489%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(Python)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9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+246,966%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(Gin)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9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+11,398%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047210819"/>
              </p:ext>
            </p:extLst>
          </p:nvPr>
        </p:nvGraphicFramePr>
        <p:xfrm>
          <a:off x="292608" y="2743200"/>
          <a:ext cx="85496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MP1 · Build-time SBOM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828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804672"/>
            <a:ext cx="2697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804672"/>
            <a:ext cx="2697480" cy="402336"/>
          </a:xfrm>
          <a:prstGeom prst="rect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8046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Source-Level SBOMs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" y="1280160"/>
            <a:ext cx="502920" cy="201168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280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✓ PROS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2336" y="1536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application-focused dependency list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2336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deterministic output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22677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noise — declared libs only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2633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run in any CI/CD pipeline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" y="3108960"/>
            <a:ext cx="502920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2336" y="3108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</a:rPr>
              <a:t>✗ CONS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02336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all runtime and OS dependencies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37307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Undercounts real attack surface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4096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container environment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54680" y="804672"/>
            <a:ext cx="2697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54680" y="804672"/>
            <a:ext cx="2697480" cy="402336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64408" y="8046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Image-Level SBOMs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4408" y="1280160"/>
            <a:ext cx="502920" cy="201168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64408" y="1280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✓ PROS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264408" y="1536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runtime visibility of deployed state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64408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OS packages and system libs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64408" y="22677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hidden transitive dependencies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64408" y="2633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aligned with what actually ships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64408" y="3108960"/>
            <a:ext cx="502920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64408" y="3108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</a:rPr>
              <a:t>✗ CONS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264408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Noisier — Syft: up to 22,236 components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64408" y="37307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analyze without filtering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64408" y="4096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packages inflate component totals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16752" y="804672"/>
            <a:ext cx="2697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16752" y="804672"/>
            <a:ext cx="2697480" cy="402336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0" y="8046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Attestation (Witness)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280160"/>
            <a:ext cx="502920" cy="201168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26480" y="1280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✓ PROS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126480" y="1536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signed build evidence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2648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what actually ran during build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26480" y="22677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provenance verification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26480" y="2633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tamper-evident JSON envelopes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26480" y="3108960"/>
            <a:ext cx="502920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26480" y="3108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</a:rPr>
              <a:t>✗ CONS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26480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setup — keys required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26480" y="37307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format less widely supported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26480" y="4096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overhead to build pipeline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MP1 · Build-time SBOM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828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Build-time SBOMs Matter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777240"/>
            <a:ext cx="85496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E879F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777240"/>
            <a:ext cx="73152" cy="100584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8183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"Image-level SBOMs reveal significantly more runtime dependencies than source-level scans — highlighting the critical importance of runtime visibility in software supply-chain security."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" y="1965960"/>
            <a:ext cx="4206240" cy="126187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" y="1965960"/>
            <a:ext cx="402336" cy="1261872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1965960"/>
            <a:ext cx="402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5528" y="2057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SBOMs Are Static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242316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Source-level scans only capture what developers declared. Real-world deployments include system libs, base image packages, and tools that are never in package manifests.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27448" y="1965960"/>
            <a:ext cx="4206240" cy="126187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27448" y="1965960"/>
            <a:ext cx="402336" cy="126187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27448" y="1965960"/>
            <a:ext cx="402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30368" y="2057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Captures Transient Deps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0368" y="242316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CI/CD builds download scripts, fetch build tools, or install packages dynamically. Only Witness-style attestation observes these as they happen.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" y="3383280"/>
            <a:ext cx="4206240" cy="126187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2608" y="3383280"/>
            <a:ext cx="402336" cy="1261872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" y="3383280"/>
            <a:ext cx="402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5528" y="3474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Provenance &amp; Traceability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" y="384048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signed build attestations tie a software artifact to its exact build inputs — essential for SLSA compliance and supply chain integrity.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27448" y="3383280"/>
            <a:ext cx="4206240" cy="126187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27448" y="3383280"/>
            <a:ext cx="402336" cy="1261872"/>
          </a:xfrm>
          <a:prstGeom prst="rect">
            <a:avLst/>
          </a:prstGeom>
          <a:solidFill>
            <a:srgbClr val="E879F9">
              <a:alpha val="85000"/>
            </a:srgbClr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27448" y="3383280"/>
            <a:ext cx="402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30368" y="3474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 Pressure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384048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Executive Order 14028 and EU Cyber Resilience Act are pushing SBOMs from optional to mandatory. Build-time SBOMs provide the highest fidelity for compliance.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MP1 · Build-time SBOM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5486400" cy="5486400"/>
          </a:xfrm>
          <a:prstGeom prst="ellipse">
            <a:avLst/>
          </a:prstGeom>
          <a:solidFill>
            <a:srgbClr val="0EA5E9">
              <a:alpha val="7000"/>
            </a:srgbClr>
          </a:solidFill>
          <a:ln w="12700">
            <a:solidFill>
              <a:srgbClr val="0EA5E9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560320"/>
            <a:ext cx="3840480" cy="3840480"/>
          </a:xfrm>
          <a:prstGeom prst="ellipse">
            <a:avLst/>
          </a:prstGeom>
          <a:solidFill>
            <a:srgbClr val="00C8FF">
              <a:alpha val="6000"/>
            </a:srgbClr>
          </a:solidFill>
          <a:ln w="12700">
            <a:solidFill>
              <a:srgbClr val="00C8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-548640"/>
            <a:ext cx="2286000" cy="228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3474720" y="2212848"/>
            <a:ext cx="128016" cy="128016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07992" y="2212848"/>
            <a:ext cx="128016" cy="128016"/>
          </a:xfrm>
          <a:prstGeom prst="ellipse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41264" y="2212848"/>
            <a:ext cx="128016" cy="128016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2487168"/>
            <a:ext cx="402336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248716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3548520"/>
            <a:ext cx="6400800" cy="77724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703968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194560" y="366739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github.com/alirazahub/mp1-buildtime-sbom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194560" y="391428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· SBOM outputs · Comparison scripts · README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USEEN1  ·  Software Supply Chain Security  ·  CNAM Paris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MP1 · Build-time SBOM  |  CNAM Paris  |  USEEN1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1186</Words>
  <Application>Microsoft Office PowerPoint</Application>
  <PresentationFormat>On-screen Show (16:9)</PresentationFormat>
  <Paragraphs>228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Raza</cp:lastModifiedBy>
  <cp:revision>3</cp:revision>
  <dcterms:created xsi:type="dcterms:W3CDTF">2026-05-25T13:08:47Z</dcterms:created>
  <dcterms:modified xsi:type="dcterms:W3CDTF">2026-05-25T22:32:28Z</dcterms:modified>
</cp:coreProperties>
</file>